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2.png"/><Relationship Id="rId8" Type="http://schemas.openxmlformats.org/officeDocument/2006/relationships/image" Target="../media/image-6-8.png"/><Relationship Id="rId9" Type="http://schemas.openxmlformats.org/officeDocument/2006/relationships/image" Target="../media/image-6-8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9.png"/><Relationship Id="rId11" Type="http://schemas.openxmlformats.org/officeDocument/2006/relationships/image" Target="../media/image-7-9.png"/><Relationship Id="rId12" Type="http://schemas.openxmlformats.org/officeDocument/2006/relationships/image" Target="../media/image-7-9.png"/><Relationship Id="rId13" Type="http://schemas.openxmlformats.org/officeDocument/2006/relationships/image" Target="../media/image-7-9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1.png"/><Relationship Id="rId7" Type="http://schemas.openxmlformats.org/officeDocument/2006/relationships/image" Target="../media/image-10-1.png"/><Relationship Id="rId8" Type="http://schemas.openxmlformats.org/officeDocument/2006/relationships/image" Target="../media/image-10-1.png"/><Relationship Id="rId9" Type="http://schemas.openxmlformats.org/officeDocument/2006/relationships/image" Target="../media/image-10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1192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607040" y="-1097280"/>
            <a:ext cx="2743200" cy="274320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640080"/>
            <a:ext cx="960120" cy="960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640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D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IILM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7498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4243D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0789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INTERNSHIP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Product Engineering Internship at MarTechAdda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841248" y="3794760"/>
            <a:ext cx="2011680" cy="0"/>
          </a:xfrm>
          <a:prstGeom prst="line">
            <a:avLst/>
          </a:prstGeom>
          <a:noFill/>
          <a:ln w="31750">
            <a:solidFill>
              <a:srgbClr val="2E6F9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41248" y="4160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160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Kajal Kiran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450799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4507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2410031725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8554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8554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B.Tech (Computer Science &amp; Engineering)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2029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017520" y="520293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5th Semester  |  Batch 2024–28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5550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5550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MarTechAdda Pvt. Ltd.</a:t>
            </a:r>
            <a:endParaRPr lang="en-US" sz="1250" dirty="0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Internship Experience &amp; Organization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762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3D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Work Environment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12848"/>
            <a:ext cx="5440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MarTechAdda Pvt. Ltd. provides a product-focused development environment for business applications covering CRM, finance, and billing. The internship involved contributing across the development lifecycle, including interface development and backend integration, while working collaboratively through a Git-based workflow.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4251960"/>
            <a:ext cx="128016" cy="128016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124712" y="4151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4251960"/>
            <a:ext cx="128016" cy="128016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867912" y="4151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CRM processes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818888"/>
            <a:ext cx="128016" cy="128016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124712" y="47183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Financial processes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4818888"/>
            <a:ext cx="128016" cy="128016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3867912" y="47183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Billing application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385816"/>
            <a:ext cx="128016" cy="128016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124712" y="5285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Backend Technologies connectivity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5385816"/>
            <a:ext cx="128016" cy="128016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867912" y="5285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Application protection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508760"/>
            <a:ext cx="4800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63500" dist="25400" dir="5400000">
              <a:srgbClr val="9AAAC4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086600" y="1837944"/>
            <a:ext cx="640080" cy="64008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22" name="Image 0" descr="/home/claude/deck/icons/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021" y="2004365"/>
            <a:ext cx="307238" cy="30723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3" name="Text 20"/>
          <p:cNvSpPr txBox="1"/>
          <p:nvPr/>
        </p:nvSpPr>
        <p:spPr>
          <a:xfrm>
            <a:off x="7909560" y="1728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7909560" y="20116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MarTechAdda Pvt. Ltd.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858000" y="2990088"/>
            <a:ext cx="4800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63500" dist="25400" dir="5400000">
              <a:srgbClr val="9AAAC4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086600" y="3319272"/>
            <a:ext cx="640080" cy="64008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27" name="Image 1" descr="/home/claude/deck/icons/useraut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21" y="3485693"/>
            <a:ext cx="307238" cy="30723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8" name="Text 24"/>
          <p:cNvSpPr txBox="1"/>
          <p:nvPr/>
        </p:nvSpPr>
        <p:spPr>
          <a:xfrm>
            <a:off x="7909560" y="3209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INTERNSHIP ROLE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7909560" y="34930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</a:t>
            </a:r>
            <a:endParaRPr lang="en-US" sz="1350" dirty="0"/>
          </a:p>
        </p:txBody>
      </p:sp>
      <p:sp>
        <p:nvSpPr>
          <p:cNvPr id="30" name="Shape 26"/>
          <p:cNvSpPr/>
          <p:nvPr/>
        </p:nvSpPr>
        <p:spPr>
          <a:xfrm>
            <a:off x="6858000" y="4471416"/>
            <a:ext cx="48006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63500" dist="25400" dir="5400000">
              <a:srgbClr val="9AAAC4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7086600" y="4800600"/>
            <a:ext cx="640080" cy="64008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32" name="Image 2" descr="/home/claude/deck/icon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021" y="4967021"/>
            <a:ext cx="307238" cy="30723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33" name="Text 28"/>
          <p:cNvSpPr txBox="1"/>
          <p:nvPr/>
        </p:nvSpPr>
        <p:spPr>
          <a:xfrm>
            <a:off x="7909560" y="4690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INTERNSHIP PERIOD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7909560" y="497433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15 Jun 2026 – 31 Jul 2026</a:t>
            </a:r>
            <a:endParaRPr lang="en-US" sz="1350" dirty="0"/>
          </a:p>
        </p:txBody>
      </p:sp>
      <p:sp>
        <p:nvSpPr>
          <p:cNvPr id="35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Internship — MarTechAdda Pvt. Ltd.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SCOPE OF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Internship Goals &amp;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INTERNSHIP OBJECTIVES</a:t>
            </a:r>
            <a:endParaRPr lang="en-US" sz="1150" dirty="0"/>
          </a:p>
        </p:txBody>
      </p:sp>
      <p:pic>
        <p:nvPicPr>
          <p:cNvPr id="6" name="Image 0" descr="/home/claude/dec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67128"/>
            <a:ext cx="219456" cy="219456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7" name="Text 4"/>
          <p:cNvSpPr txBox="1"/>
          <p:nvPr/>
        </p:nvSpPr>
        <p:spPr>
          <a:xfrm>
            <a:off x="1207008" y="20939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Build hands-on product engineering skills</a:t>
            </a:r>
            <a:endParaRPr lang="en-US" sz="1250" dirty="0"/>
          </a:p>
        </p:txBody>
      </p:sp>
      <p:pic>
        <p:nvPicPr>
          <p:cNvPr id="8" name="Image 1" descr="/home/claude/deck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24328"/>
            <a:ext cx="219456" cy="219456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9" name="Text 5"/>
          <p:cNvSpPr txBox="1"/>
          <p:nvPr/>
        </p:nvSpPr>
        <p:spPr>
          <a:xfrm>
            <a:off x="1207008" y="25511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Create responsive business-oriented applications</a:t>
            </a:r>
            <a:endParaRPr lang="en-US" sz="1250" dirty="0"/>
          </a:p>
        </p:txBody>
      </p:sp>
      <p:pic>
        <p:nvPicPr>
          <p:cNvPr id="10" name="Image 2" descr="/home/claude/deck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081528"/>
            <a:ext cx="219456" cy="219456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1" name="Text 6"/>
          <p:cNvSpPr txBox="1"/>
          <p:nvPr/>
        </p:nvSpPr>
        <p:spPr>
          <a:xfrm>
            <a:off x="1207008" y="30083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Apply both frontend and backend technologies</a:t>
            </a:r>
            <a:endParaRPr lang="en-US" sz="1250" dirty="0"/>
          </a:p>
        </p:txBody>
      </p:sp>
      <p:pic>
        <p:nvPicPr>
          <p:cNvPr id="12" name="Image 3" descr="/home/claude/deck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38728"/>
            <a:ext cx="219456" cy="219456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3" name="Text 7"/>
          <p:cNvSpPr txBox="1"/>
          <p:nvPr/>
        </p:nvSpPr>
        <p:spPr>
          <a:xfrm>
            <a:off x="1207008" y="34655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Learn how application and database layers connect</a:t>
            </a:r>
            <a:endParaRPr lang="en-US" sz="1250" dirty="0"/>
          </a:p>
        </p:txBody>
      </p:sp>
      <p:pic>
        <p:nvPicPr>
          <p:cNvPr id="14" name="Image 4" descr="/home/claude/deck/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95928"/>
            <a:ext cx="219456" cy="219456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5" name="Text 8"/>
          <p:cNvSpPr txBox="1"/>
          <p:nvPr/>
        </p:nvSpPr>
        <p:spPr>
          <a:xfrm>
            <a:off x="1207008" y="39227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Develop features for financial workflows</a:t>
            </a:r>
            <a:endParaRPr lang="en-US" sz="1250" dirty="0"/>
          </a:p>
        </p:txBody>
      </p:sp>
      <p:pic>
        <p:nvPicPr>
          <p:cNvPr id="16" name="Image 5" descr="/home/claude/deck/icons/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453128"/>
            <a:ext cx="219456" cy="219456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7" name="Text 9"/>
          <p:cNvSpPr txBox="1"/>
          <p:nvPr/>
        </p:nvSpPr>
        <p:spPr>
          <a:xfrm>
            <a:off x="1207008" y="43799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Strengthen application security</a:t>
            </a:r>
            <a:endParaRPr lang="en-US" sz="1250" dirty="0"/>
          </a:p>
        </p:txBody>
      </p:sp>
      <p:pic>
        <p:nvPicPr>
          <p:cNvPr id="18" name="Image 6" descr="/home/claude/deck/icons/che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910328"/>
            <a:ext cx="219456" cy="219456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9" name="Text 10"/>
          <p:cNvSpPr txBox="1"/>
          <p:nvPr/>
        </p:nvSpPr>
        <p:spPr>
          <a:xfrm>
            <a:off x="1207008" y="4837176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Work collaboratively with Git / GitHub workflow</a:t>
            </a:r>
            <a:endParaRPr lang="en-US" sz="1250" dirty="0"/>
          </a:p>
        </p:txBody>
      </p:sp>
      <p:sp>
        <p:nvSpPr>
          <p:cNvPr id="20" name="Text 11"/>
          <p:cNvSpPr txBox="1"/>
          <p:nvPr/>
        </p:nvSpPr>
        <p:spPr>
          <a:xfrm>
            <a:off x="626364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21" name="Text 12"/>
          <p:cNvSpPr txBox="1"/>
          <p:nvPr/>
        </p:nvSpPr>
        <p:spPr>
          <a:xfrm>
            <a:off x="626364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Frontend Technologies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6263640" y="2185416"/>
            <a:ext cx="972922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3" name="Text 14"/>
          <p:cNvSpPr txBox="1"/>
          <p:nvPr/>
        </p:nvSpPr>
        <p:spPr>
          <a:xfrm>
            <a:off x="6263640" y="2185416"/>
            <a:ext cx="9729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7346290" y="2185416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5" name="Text 16"/>
          <p:cNvSpPr txBox="1"/>
          <p:nvPr/>
        </p:nvSpPr>
        <p:spPr>
          <a:xfrm>
            <a:off x="7346290" y="218541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8599018" y="2185416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7" name="Text 18"/>
          <p:cNvSpPr txBox="1"/>
          <p:nvPr/>
        </p:nvSpPr>
        <p:spPr>
          <a:xfrm>
            <a:off x="8599018" y="2185416"/>
            <a:ext cx="13130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10021824" y="2185416"/>
            <a:ext cx="1228039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9" name="Text 20"/>
          <p:cNvSpPr txBox="1"/>
          <p:nvPr/>
        </p:nvSpPr>
        <p:spPr>
          <a:xfrm>
            <a:off x="10021824" y="2185416"/>
            <a:ext cx="12280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Vanilla CSS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6263640" y="2715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Backend Technologies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263640" y="3026664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2" name="Text 23"/>
          <p:cNvSpPr txBox="1"/>
          <p:nvPr/>
        </p:nvSpPr>
        <p:spPr>
          <a:xfrm>
            <a:off x="6263640" y="3026664"/>
            <a:ext cx="8878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7261250" y="302666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4" name="Text 25"/>
          <p:cNvSpPr txBox="1"/>
          <p:nvPr/>
        </p:nvSpPr>
        <p:spPr>
          <a:xfrm>
            <a:off x="7261250" y="302666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8513978" y="3026664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6" name="Text 27"/>
          <p:cNvSpPr txBox="1"/>
          <p:nvPr/>
        </p:nvSpPr>
        <p:spPr>
          <a:xfrm>
            <a:off x="8513978" y="302666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50" dirty="0"/>
          </a:p>
        </p:txBody>
      </p:sp>
      <p:sp>
        <p:nvSpPr>
          <p:cNvPr id="37" name="Text 28"/>
          <p:cNvSpPr txBox="1"/>
          <p:nvPr/>
        </p:nvSpPr>
        <p:spPr>
          <a:xfrm>
            <a:off x="6263640" y="3557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Database Technologies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263640" y="386791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9" name="Text 30"/>
          <p:cNvSpPr txBox="1"/>
          <p:nvPr/>
        </p:nvSpPr>
        <p:spPr>
          <a:xfrm>
            <a:off x="6263640" y="3867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7516368" y="3867912"/>
            <a:ext cx="887882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1" name="Text 32"/>
          <p:cNvSpPr txBox="1"/>
          <p:nvPr/>
        </p:nvSpPr>
        <p:spPr>
          <a:xfrm>
            <a:off x="7516368" y="3867912"/>
            <a:ext cx="8878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50" dirty="0"/>
          </a:p>
        </p:txBody>
      </p:sp>
      <p:sp>
        <p:nvSpPr>
          <p:cNvPr id="42" name="Text 33"/>
          <p:cNvSpPr txBox="1"/>
          <p:nvPr/>
        </p:nvSpPr>
        <p:spPr>
          <a:xfrm>
            <a:off x="6263640" y="4398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6263640" y="4709160"/>
            <a:ext cx="1228039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4" name="Text 35"/>
          <p:cNvSpPr txBox="1"/>
          <p:nvPr/>
        </p:nvSpPr>
        <p:spPr>
          <a:xfrm>
            <a:off x="6263640" y="4709160"/>
            <a:ext cx="12280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Passport.js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7601407" y="4709160"/>
            <a:ext cx="1653235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6" name="Text 37"/>
          <p:cNvSpPr txBox="1"/>
          <p:nvPr/>
        </p:nvSpPr>
        <p:spPr>
          <a:xfrm>
            <a:off x="7601407" y="4709160"/>
            <a:ext cx="16532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Google OAuth 2.0</a:t>
            </a:r>
            <a:endParaRPr lang="en-US" sz="1050" dirty="0"/>
          </a:p>
        </p:txBody>
      </p:sp>
      <p:sp>
        <p:nvSpPr>
          <p:cNvPr id="47" name="Text 38"/>
          <p:cNvSpPr txBox="1"/>
          <p:nvPr/>
        </p:nvSpPr>
        <p:spPr>
          <a:xfrm>
            <a:off x="6263640" y="5239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6263640" y="5550408"/>
            <a:ext cx="1313078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9" name="Text 40"/>
          <p:cNvSpPr txBox="1"/>
          <p:nvPr/>
        </p:nvSpPr>
        <p:spPr>
          <a:xfrm>
            <a:off x="6263640" y="5550408"/>
            <a:ext cx="13130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7686446" y="5550408"/>
            <a:ext cx="2163470" cy="3108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9525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1" name="Text 42"/>
          <p:cNvSpPr txBox="1"/>
          <p:nvPr/>
        </p:nvSpPr>
        <p:spPr>
          <a:xfrm>
            <a:off x="7686446" y="5550408"/>
            <a:ext cx="2163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LLM-assisted dev tools</a:t>
            </a:r>
            <a:endParaRPr lang="en-US" sz="1050" dirty="0"/>
          </a:p>
        </p:txBody>
      </p:sp>
      <p:sp>
        <p:nvSpPr>
          <p:cNvPr id="52" name="Text 4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Internship — MarTechAdda Pvt. Ltd.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CORE CONTRIBUTION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CRM Financial Module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762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4672" y="1892808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/home/claude/deck/icons/transaction_1B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2063984"/>
            <a:ext cx="316017" cy="316017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7" name="Text 4"/>
          <p:cNvSpPr txBox="1"/>
          <p:nvPr/>
        </p:nvSpPr>
        <p:spPr>
          <a:xfrm>
            <a:off x="804672" y="274320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D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Transaction Overview Dashboard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41071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Worked on a consolidated ledger view covering cash flow, expenditure, and customer credit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04672" y="446227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04672" y="44622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PRIMARY CONTRIBUTION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438144" y="160020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762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694176" y="1892808"/>
            <a:ext cx="658368" cy="658368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13" name="Image 1" descr="/home/claude/deck/icons/revenu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352" y="2063984"/>
            <a:ext cx="316017" cy="316017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4" name="Text 10"/>
          <p:cNvSpPr txBox="1"/>
          <p:nvPr/>
        </p:nvSpPr>
        <p:spPr>
          <a:xfrm>
            <a:off x="3694176" y="274320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D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Revenue Overview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694176" y="341071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Clear visibility into overall business revenue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27648" y="160020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762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6583680" y="1892808"/>
            <a:ext cx="658368" cy="658368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18" name="Image 2" descr="/home/claude/deck/icons/refun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856" y="2063984"/>
            <a:ext cx="316017" cy="316017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9" name="Text 14"/>
          <p:cNvSpPr txBox="1"/>
          <p:nvPr/>
        </p:nvSpPr>
        <p:spPr>
          <a:xfrm>
            <a:off x="6583680" y="274320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D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Refund Management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6583680" y="341071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Tracking the complete refund lifecycle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217152" y="1600200"/>
            <a:ext cx="2670048" cy="324612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762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9473184" y="1892808"/>
            <a:ext cx="658368" cy="658368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23" name="Image 3" descr="/home/claude/deck/icons/payou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360" y="2063984"/>
            <a:ext cx="316017" cy="316017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4" name="Text 18"/>
          <p:cNvSpPr txBox="1"/>
          <p:nvPr/>
        </p:nvSpPr>
        <p:spPr>
          <a:xfrm>
            <a:off x="9473184" y="2743200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43D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Payout Management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9473184" y="3410712"/>
            <a:ext cx="21579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Monitoring outgoing payouts within the CRM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EF3FA"/>
          </a:solidFill>
          <a:ln/>
        </p:spPr>
        <p:txBody>
          <a:bodyPr/>
          <a:p/>
        </p:txBody>
      </p:sp>
      <p:sp>
        <p:nvSpPr>
          <p:cNvPr id="27" name="Text 21"/>
          <p:cNvSpPr txBox="1"/>
          <p:nvPr/>
        </p:nvSpPr>
        <p:spPr>
          <a:xfrm>
            <a:off x="868680" y="5230368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Transaction Overview Dashboard organized cash flow, expenditure, and customer credit into a single ledger view, helping provide consolidated financial visibility within CRM operations.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Internship — MarTechAdda Pvt. Ltd.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REFUND TRACKING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Refund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2E6F9E"/>
          </a:solidFill>
          <a:ln/>
          <a:effectLst>
            <a:outerShdw sx="100000" sy="100000" kx="0" ky="0" algn="bl" rotWithShape="0" blurRad="635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58368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Request Raised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350008" y="2834640"/>
            <a:ext cx="507492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875788" y="237744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985516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967228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Review in Progress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77156" y="2834640"/>
            <a:ext cx="507492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202936" y="237744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312664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294376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Approval Granted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004304" y="2834640"/>
            <a:ext cx="507492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530084" y="237744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635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639812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621524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Refund Processing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331452" y="2834640"/>
            <a:ext cx="507492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857232" y="237744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/>
          <a:effectLst>
            <a:outerShdw sx="100000" sy="100000" kx="0" ky="0" algn="bl" rotWithShape="0" blurRad="63500" dist="25400" dir="5400000">
              <a:srgbClr val="9AAAC4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966960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948672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Refund Completed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767328" y="3291840"/>
            <a:ext cx="0" cy="502920"/>
          </a:xfrm>
          <a:prstGeom prst="line">
            <a:avLst/>
          </a:prstGeom>
          <a:noFill/>
          <a:ln w="22225">
            <a:solidFill>
              <a:srgbClr val="B23A2E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898648" y="37947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B23A2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2898648" y="37947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Request Rejected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EF3FA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2960" y="5166360"/>
            <a:ext cx="685800" cy="68580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28" name="Image 0" descr="/home/claude/deck/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5344668"/>
            <a:ext cx="329184" cy="32918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9" name="Text 26"/>
          <p:cNvSpPr txBox="1"/>
          <p:nvPr/>
        </p:nvSpPr>
        <p:spPr>
          <a:xfrm>
            <a:off x="1691640" y="5074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workflow makes refund handling structured and traceable by moving every request through defined stages, from submission and review to final completion or rejection.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Internship — MarTechAdda Pvt. Ltd.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ENGINEERING DEPTH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Backend Technologies Connectivity &amp;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63500" dist="25400" dir="5400000">
              <a:srgbClr val="9AAAC4">
                <a:alpha val="2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BACKEND INTEGRATION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  <p:txBody>
          <a:bodyPr/>
          <a:p/>
        </p:txBody>
      </p:sp>
      <p:pic>
        <p:nvPicPr>
          <p:cNvPr id="7" name="Image 0" descr="/home/claude/deck/icons/server_1B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287" y="2253447"/>
            <a:ext cx="193121" cy="193121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8" name="Text 5"/>
          <p:cNvSpPr txBox="1"/>
          <p:nvPr/>
        </p:nvSpPr>
        <p:spPr>
          <a:xfrm>
            <a:off x="1417320" y="2167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Integrated the Express.js server layer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2679192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  <p:txBody>
          <a:bodyPr/>
          <a:p/>
        </p:txBody>
      </p:sp>
      <p:pic>
        <p:nvPicPr>
          <p:cNvPr id="10" name="Image 1" descr="/home/claude/deck/icons/database_1B2A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287" y="2783799"/>
            <a:ext cx="193121" cy="193121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1" name="Text 7"/>
          <p:cNvSpPr txBox="1"/>
          <p:nvPr/>
        </p:nvSpPr>
        <p:spPr>
          <a:xfrm>
            <a:off x="1417320" y="2697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Connected application features with database models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68680" y="3209544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  <p:txBody>
          <a:bodyPr/>
          <a:p/>
        </p:txBody>
      </p:sp>
      <p:pic>
        <p:nvPicPr>
          <p:cNvPr id="13" name="Image 2" descr="/home/claude/deck/icons/layers_1B2A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87" y="3314151"/>
            <a:ext cx="193121" cy="193121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4" name="Text 9"/>
          <p:cNvSpPr txBox="1"/>
          <p:nvPr/>
        </p:nvSpPr>
        <p:spPr>
          <a:xfrm>
            <a:off x="1417320" y="32278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Handled shared application state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68680" y="3739896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  <p:txBody>
          <a:bodyPr/>
          <a:p/>
        </p:txBody>
      </p:sp>
      <p:pic>
        <p:nvPicPr>
          <p:cNvPr id="16" name="Image 3" descr="/home/claude/deck/icons/activity_1B2A4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287" y="3844503"/>
            <a:ext cx="193121" cy="193121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7" name="Text 11"/>
          <p:cNvSpPr txBox="1"/>
          <p:nvPr/>
        </p:nvSpPr>
        <p:spPr>
          <a:xfrm>
            <a:off x="1417320" y="37581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Resolved synchronization-related issues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68680" y="4270248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  <p:txBody>
          <a:bodyPr/>
          <a:p/>
        </p:txBody>
      </p:sp>
      <p:pic>
        <p:nvPicPr>
          <p:cNvPr id="19" name="Image 4" descr="/home/claude/deck/icons/lock_1B2A4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287" y="4374855"/>
            <a:ext cx="193121" cy="193121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0" name="Text 13"/>
          <p:cNvSpPr txBox="1"/>
          <p:nvPr/>
        </p:nvSpPr>
        <p:spPr>
          <a:xfrm>
            <a:off x="1417320" y="42885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Implemented protected routes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868680" y="4800600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  <p:txBody>
          <a:bodyPr/>
          <a:p/>
        </p:txBody>
      </p:sp>
      <p:pic>
        <p:nvPicPr>
          <p:cNvPr id="22" name="Image 5" descr="/home/claude/deck/icons/shield_1B2A4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287" y="4905207"/>
            <a:ext cx="193121" cy="193121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3" name="Text 15"/>
          <p:cNvSpPr txBox="1"/>
          <p:nvPr/>
        </p:nvSpPr>
        <p:spPr>
          <a:xfrm>
            <a:off x="1417320" y="4818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Improved authorization controls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868680" y="5330952"/>
            <a:ext cx="402336" cy="402336"/>
          </a:xfrm>
          <a:prstGeom prst="ellipse">
            <a:avLst/>
          </a:prstGeom>
          <a:solidFill>
            <a:srgbClr val="EEF3FA"/>
          </a:solidFill>
          <a:ln/>
        </p:spPr>
        <p:txBody>
          <a:bodyPr/>
          <a:p/>
        </p:txBody>
      </p:sp>
      <p:pic>
        <p:nvPicPr>
          <p:cNvPr id="25" name="Image 6" descr="/home/claude/deck/icons/database_1B2A4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287" y="5435559"/>
            <a:ext cx="193121" cy="193121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6" name="Text 17"/>
          <p:cNvSpPr txBox="1"/>
          <p:nvPr/>
        </p:nvSpPr>
        <p:spPr>
          <a:xfrm>
            <a:off x="1417320" y="53492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Maintained development database isolation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5852160" y="1508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 E C U R I T Y   I M P R O V E M E N T S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5852160" y="1874520"/>
            <a:ext cx="5760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23A2E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9" name="Shape 20"/>
          <p:cNvSpPr/>
          <p:nvPr/>
        </p:nvSpPr>
        <p:spPr>
          <a:xfrm>
            <a:off x="6053328" y="2167128"/>
            <a:ext cx="621792" cy="621792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p/>
        </p:txBody>
      </p:sp>
      <p:pic>
        <p:nvPicPr>
          <p:cNvPr id="30" name="Image 7" descr="/home/claude/deck/icons/alert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4994" y="2328794"/>
            <a:ext cx="298460" cy="298460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31" name="Text 21"/>
          <p:cNvSpPr txBox="1"/>
          <p:nvPr/>
        </p:nvSpPr>
        <p:spPr>
          <a:xfrm>
            <a:off x="6812280" y="2020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Issue 1: Unprotected Routes</a:t>
            </a:r>
            <a:endParaRPr lang="en-US" sz="1350" dirty="0"/>
          </a:p>
        </p:txBody>
      </p:sp>
      <p:sp>
        <p:nvSpPr>
          <p:cNvPr id="32" name="Text 22"/>
          <p:cNvSpPr txBox="1"/>
          <p:nvPr/>
        </p:nvSpPr>
        <p:spPr>
          <a:xfrm>
            <a:off x="6812280" y="23774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Some routes were not adequately protected, which could allow unauthorized access to application data.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5852160" y="3291840"/>
            <a:ext cx="5760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23A2E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4" name="Shape 24"/>
          <p:cNvSpPr/>
          <p:nvPr/>
        </p:nvSpPr>
        <p:spPr>
          <a:xfrm>
            <a:off x="6053328" y="3584448"/>
            <a:ext cx="621792" cy="621792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p/>
        </p:txBody>
      </p:sp>
      <p:pic>
        <p:nvPicPr>
          <p:cNvPr id="35" name="Image 8" descr="/home/claude/deck/icons/aler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4994" y="3746114"/>
            <a:ext cx="298460" cy="298460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36" name="Text 25"/>
          <p:cNvSpPr txBox="1"/>
          <p:nvPr/>
        </p:nvSpPr>
        <p:spPr>
          <a:xfrm>
            <a:off x="6812280" y="34381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Issue 2: Modifiable Frontend Technologies Role Field</a:t>
            </a:r>
            <a:endParaRPr lang="en-US" sz="1350" dirty="0"/>
          </a:p>
        </p:txBody>
      </p:sp>
      <p:sp>
        <p:nvSpPr>
          <p:cNvPr id="37" name="Text 26"/>
          <p:cNvSpPr txBox="1"/>
          <p:nvPr/>
        </p:nvSpPr>
        <p:spPr>
          <a:xfrm>
            <a:off x="6812280" y="37947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The frontend allowed the user role field to be modified, creating a potential privilege-escalation concern.</a:t>
            </a:r>
            <a:endParaRPr lang="en-US" sz="1100" dirty="0"/>
          </a:p>
        </p:txBody>
      </p:sp>
      <p:sp>
        <p:nvSpPr>
          <p:cNvPr id="38" name="Shape 27"/>
          <p:cNvSpPr/>
          <p:nvPr/>
        </p:nvSpPr>
        <p:spPr>
          <a:xfrm>
            <a:off x="5852160" y="4800600"/>
            <a:ext cx="5760720" cy="1234440"/>
          </a:xfrm>
          <a:prstGeom prst="roundRect">
            <a:avLst>
              <a:gd name="adj" fmla="val 7407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9" name="Shape 28"/>
          <p:cNvSpPr/>
          <p:nvPr/>
        </p:nvSpPr>
        <p:spPr>
          <a:xfrm>
            <a:off x="6080760" y="5093208"/>
            <a:ext cx="621792" cy="62179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p/>
        </p:txBody>
      </p:sp>
      <p:pic>
        <p:nvPicPr>
          <p:cNvPr id="40" name="Image 9" descr="/home/claude/deck/icons/check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2426" y="5254874"/>
            <a:ext cx="298460" cy="298460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41" name="Text 29"/>
          <p:cNvSpPr txBox="1"/>
          <p:nvPr/>
        </p:nvSpPr>
        <p:spPr>
          <a:xfrm>
            <a:off x="6858000" y="4928616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Authorization controls were strengthened so access depended on verified user roles instead of client-side role values.</a:t>
            </a:r>
            <a:endParaRPr lang="en-US" sz="1150" dirty="0"/>
          </a:p>
        </p:txBody>
      </p:sp>
      <p:sp>
        <p:nvSpPr>
          <p:cNvPr id="4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Internship — MarTechAdda Pvt. Ltd.</a:t>
            </a:r>
            <a:endParaRPr lang="en-US" sz="900" dirty="0"/>
          </a:p>
        </p:txBody>
      </p:sp>
      <p:sp>
        <p:nvSpPr>
          <p:cNvPr id="43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Ledgerly — Billing and Invoicing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6" name="Image 0" descr="/home/claude/deck/icons/filetex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" y="1932127"/>
            <a:ext cx="241402" cy="241402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7" name="Text 4"/>
          <p:cNvSpPr txBox="1"/>
          <p:nvPr/>
        </p:nvSpPr>
        <p:spPr>
          <a:xfrm>
            <a:off x="713232" y="244144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Invoice Management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74136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3575304" y="1801368"/>
            <a:ext cx="502920" cy="50292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10" name="Image 1" descr="/home/claude/deck/icons/clipbo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063" y="1932127"/>
            <a:ext cx="241402" cy="241402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1" name="Text 7"/>
          <p:cNvSpPr txBox="1"/>
          <p:nvPr/>
        </p:nvSpPr>
        <p:spPr>
          <a:xfrm>
            <a:off x="3538728" y="244144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Estimates &amp; Quotations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99632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00800" y="1801368"/>
            <a:ext cx="502920" cy="50292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14" name="Image 2" descr="/home/claude/deck/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1932127"/>
            <a:ext cx="241402" cy="241402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5" name="Text 10"/>
          <p:cNvSpPr txBox="1"/>
          <p:nvPr/>
        </p:nvSpPr>
        <p:spPr>
          <a:xfrm>
            <a:off x="6364224" y="244144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Client Management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025128" y="16002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9226296" y="1801368"/>
            <a:ext cx="502920" cy="50292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18" name="Image 3" descr="/home/claude/deck/icons/boo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055" y="1932127"/>
            <a:ext cx="241402" cy="241402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9" name="Text 13"/>
          <p:cNvSpPr txBox="1"/>
          <p:nvPr/>
        </p:nvSpPr>
        <p:spPr>
          <a:xfrm>
            <a:off x="9189720" y="2441448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Catalog &amp; Profiles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236976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749808" y="3438144"/>
            <a:ext cx="502920" cy="50292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22" name="Image 4" descr="/home/claude/deck/icons/lay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" y="3568903"/>
            <a:ext cx="241402" cy="241402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3" name="Text 16"/>
          <p:cNvSpPr txBox="1"/>
          <p:nvPr/>
        </p:nvSpPr>
        <p:spPr>
          <a:xfrm>
            <a:off x="713232" y="407822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Client Ledger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74136" y="3236976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5" name="Shape 18"/>
          <p:cNvSpPr/>
          <p:nvPr/>
        </p:nvSpPr>
        <p:spPr>
          <a:xfrm>
            <a:off x="3575304" y="3438144"/>
            <a:ext cx="502920" cy="50292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26" name="Image 5" descr="/home/claude/deck/icons/transaction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063" y="3568903"/>
            <a:ext cx="241402" cy="241402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7" name="Text 19"/>
          <p:cNvSpPr txBox="1"/>
          <p:nvPr/>
        </p:nvSpPr>
        <p:spPr>
          <a:xfrm>
            <a:off x="3538728" y="407822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199632" y="3236976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9" name="Shape 21"/>
          <p:cNvSpPr/>
          <p:nvPr/>
        </p:nvSpPr>
        <p:spPr>
          <a:xfrm>
            <a:off x="6400800" y="3438144"/>
            <a:ext cx="502920" cy="50292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30" name="Image 6" descr="/home/claude/deck/icons/activity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1559" y="3568903"/>
            <a:ext cx="241402" cy="241402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31" name="Text 22"/>
          <p:cNvSpPr txBox="1"/>
          <p:nvPr/>
        </p:nvSpPr>
        <p:spPr>
          <a:xfrm>
            <a:off x="6364224" y="407822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Activity Tracking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9025128" y="3236976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3" name="Shape 24"/>
          <p:cNvSpPr/>
          <p:nvPr/>
        </p:nvSpPr>
        <p:spPr>
          <a:xfrm>
            <a:off x="9226296" y="3438144"/>
            <a:ext cx="502920" cy="502920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34" name="Image 7" descr="/home/claude/deck/icons/phon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7055" y="3568903"/>
            <a:ext cx="241402" cy="241402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35" name="Text 25"/>
          <p:cNvSpPr txBox="1"/>
          <p:nvPr/>
        </p:nvSpPr>
        <p:spPr>
          <a:xfrm>
            <a:off x="9189720" y="4078224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Contact Management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548640" y="4882896"/>
            <a:ext cx="11091672" cy="896112"/>
          </a:xfrm>
          <a:prstGeom prst="roundRect">
            <a:avLst>
              <a:gd name="adj" fmla="val 10204"/>
            </a:avLst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37" name="Image 8" descr="/home/claude/deck/icons/check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5093208"/>
            <a:ext cx="201168" cy="20116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38" name="Text 27"/>
          <p:cNvSpPr txBox="1"/>
          <p:nvPr/>
        </p:nvSpPr>
        <p:spPr>
          <a:xfrm>
            <a:off x="1097280" y="50474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Billing process management</a:t>
            </a:r>
            <a:endParaRPr lang="en-US" sz="1050" dirty="0"/>
          </a:p>
        </p:txBody>
      </p:sp>
      <p:pic>
        <p:nvPicPr>
          <p:cNvPr id="39" name="Image 9" descr="/home/claude/deck/icons/check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0560" y="5093208"/>
            <a:ext cx="201168" cy="20116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40" name="Text 28"/>
          <p:cNvSpPr txBox="1"/>
          <p:nvPr/>
        </p:nvSpPr>
        <p:spPr>
          <a:xfrm>
            <a:off x="4754880" y="50474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Client data management</a:t>
            </a:r>
            <a:endParaRPr lang="en-US" sz="1050" dirty="0"/>
          </a:p>
        </p:txBody>
      </p:sp>
      <p:pic>
        <p:nvPicPr>
          <p:cNvPr id="41" name="Image 10" descr="/home/claude/deck/icons/check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8160" y="5093208"/>
            <a:ext cx="201168" cy="20116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42" name="Text 29"/>
          <p:cNvSpPr txBox="1"/>
          <p:nvPr/>
        </p:nvSpPr>
        <p:spPr>
          <a:xfrm>
            <a:off x="8412480" y="50474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Print-ready financial documents</a:t>
            </a:r>
            <a:endParaRPr lang="en-US" sz="1050" dirty="0"/>
          </a:p>
        </p:txBody>
      </p:sp>
      <p:pic>
        <p:nvPicPr>
          <p:cNvPr id="43" name="Image 11" descr="/home/claude/deck/icons/check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" y="5477256"/>
            <a:ext cx="201168" cy="20116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44" name="Text 30"/>
          <p:cNvSpPr txBox="1"/>
          <p:nvPr/>
        </p:nvSpPr>
        <p:spPr>
          <a:xfrm>
            <a:off x="1097280" y="54315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CGST / SGST tax calculation</a:t>
            </a:r>
            <a:endParaRPr lang="en-US" sz="1050" dirty="0"/>
          </a:p>
        </p:txBody>
      </p:sp>
      <p:pic>
        <p:nvPicPr>
          <p:cNvPr id="45" name="Image 12" descr="/home/claude/deck/icons/check_FFFFF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0560" y="5477256"/>
            <a:ext cx="201168" cy="20116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46" name="Text 31"/>
          <p:cNvSpPr txBox="1"/>
          <p:nvPr/>
        </p:nvSpPr>
        <p:spPr>
          <a:xfrm>
            <a:off x="4754880" y="54315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Quotation-to-invoice workflow</a:t>
            </a:r>
            <a:endParaRPr lang="en-US" sz="1050" dirty="0"/>
          </a:p>
        </p:txBody>
      </p:sp>
      <p:sp>
        <p:nvSpPr>
          <p:cNvPr id="47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Internship — MarTechAdda Pvt. Ltd.</a:t>
            </a:r>
            <a:endParaRPr lang="en-US" sz="900" dirty="0"/>
          </a:p>
        </p:txBody>
      </p:sp>
      <p:sp>
        <p:nvSpPr>
          <p:cNvPr id="48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LEDGERLY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Ledgerly Process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INVOICE LIFECYCLE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97280" cy="777240"/>
          </a:xfrm>
          <a:prstGeom prst="roundRect">
            <a:avLst>
              <a:gd name="adj" fmla="val 11765"/>
            </a:avLst>
          </a:prstGeom>
          <a:solidFill>
            <a:srgbClr val="5B6B85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Drafted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73352" y="2308860"/>
            <a:ext cx="310896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011680" y="1920240"/>
            <a:ext cx="1097280" cy="777240"/>
          </a:xfrm>
          <a:prstGeom prst="roundRect">
            <a:avLst>
              <a:gd name="adj" fmla="val 11765"/>
            </a:avLst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011680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Issued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36392" y="2308860"/>
            <a:ext cx="310896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74720" y="1920240"/>
            <a:ext cx="109728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474720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Approval Granted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99432" y="2308860"/>
            <a:ext cx="310896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937760" y="1920240"/>
            <a:ext cx="1097280" cy="777240"/>
          </a:xfrm>
          <a:prstGeom prst="roundRect">
            <a:avLst>
              <a:gd name="adj" fmla="val 11765"/>
            </a:avLst>
          </a:prstGeom>
          <a:solidFill>
            <a:srgbClr val="2E7D5B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937760" y="1920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Payment Received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QUOTATION CONVERSION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86600" y="19202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086600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Quotation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51392" y="2308860"/>
            <a:ext cx="457200" cy="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400032" y="19202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400032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Invoice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11091672" cy="0"/>
          </a:xfrm>
          <a:prstGeom prst="line">
            <a:avLst/>
          </a:prstGeom>
          <a:noFill/>
          <a:ln w="19050">
            <a:solidFill>
              <a:srgbClr val="EEF3F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SUPPORTING FEATURES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6118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86384" y="3867912"/>
            <a:ext cx="566928" cy="566928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26" name="Image 0" descr="/home/claude/deck/icons/percen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785" y="4015313"/>
            <a:ext cx="272125" cy="272125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7" name="Text 24"/>
          <p:cNvSpPr txBox="1"/>
          <p:nvPr/>
        </p:nvSpPr>
        <p:spPr>
          <a:xfrm>
            <a:off x="786384" y="45720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CGST / SGST Tax Details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86384" y="509320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Each invoice displays the applicable automatic tax split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334256" y="36118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572000" y="3867912"/>
            <a:ext cx="566928" cy="566928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31" name="Image 1" descr="/home/claude/deck/icons/print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01" y="4015313"/>
            <a:ext cx="272125" cy="272125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32" name="Text 28"/>
          <p:cNvSpPr txBox="1"/>
          <p:nvPr/>
        </p:nvSpPr>
        <p:spPr>
          <a:xfrm>
            <a:off x="4572000" y="45720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Print-ready Financial Documents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572000" y="509320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Invoice Management and estimates can be produced as print-ready documents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119872" y="361188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50800" dist="25400" dir="5400000">
              <a:srgbClr val="9AAAC4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8357616" y="3867912"/>
            <a:ext cx="566928" cy="566928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pic>
        <p:nvPicPr>
          <p:cNvPr id="36" name="Image 2" descr="/home/claude/deck/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017" y="4015313"/>
            <a:ext cx="272125" cy="272125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37" name="Text 32"/>
          <p:cNvSpPr txBox="1"/>
          <p:nvPr/>
        </p:nvSpPr>
        <p:spPr>
          <a:xfrm>
            <a:off x="8357616" y="45720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Server-side Pagination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8357616" y="509320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Listing views display 15 records per page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Internship — MarTechAdda Pvt. Ltd.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Six-Week Internship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103120"/>
            <a:ext cx="104698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337767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6" name="Image 0" descr="/home/claude/deck/icons/gi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88" y="1949501"/>
            <a:ext cx="307238" cy="30723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7" name="Text 4"/>
          <p:cNvSpPr txBox="1"/>
          <p:nvPr/>
        </p:nvSpPr>
        <p:spPr>
          <a:xfrm>
            <a:off x="594360" y="2514600"/>
            <a:ext cx="2126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98064"/>
            <a:ext cx="21268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Development Fundamentals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3383280"/>
            <a:ext cx="2072030" cy="23317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38100" dist="19050" dir="5400000">
              <a:srgbClr val="9AAAC4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68096" y="362102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914400" y="351129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Git / GitHub workflow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68096" y="416966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914400" y="405993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Repository organization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768096" y="471830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14400" y="460857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Branching &amp; pull requests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68096" y="526694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914400" y="515721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React / Node / Express / database basics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>
            <a:off x="3556102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19" name="Image 1" descr="/home/claude/deck/icons/cod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522" y="1949501"/>
            <a:ext cx="307238" cy="30723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0" name="Text 16"/>
          <p:cNvSpPr txBox="1"/>
          <p:nvPr/>
        </p:nvSpPr>
        <p:spPr>
          <a:xfrm>
            <a:off x="2812694" y="2514600"/>
            <a:ext cx="2126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2812694" y="2798064"/>
            <a:ext cx="21268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UI Development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2840126" y="3383280"/>
            <a:ext cx="2072030" cy="23317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38100" dist="19050" dir="5400000">
              <a:srgbClr val="9AAAC4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2986430" y="362102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24" name="Text 20"/>
          <p:cNvSpPr txBox="1"/>
          <p:nvPr/>
        </p:nvSpPr>
        <p:spPr>
          <a:xfrm>
            <a:off x="3132734" y="351129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Blog interface</a:t>
            </a:r>
            <a:endParaRPr lang="en-US" sz="930" dirty="0"/>
          </a:p>
        </p:txBody>
      </p:sp>
      <p:sp>
        <p:nvSpPr>
          <p:cNvPr id="25" name="Shape 21"/>
          <p:cNvSpPr/>
          <p:nvPr/>
        </p:nvSpPr>
        <p:spPr>
          <a:xfrm>
            <a:off x="2986430" y="416966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26" name="Text 22"/>
          <p:cNvSpPr txBox="1"/>
          <p:nvPr/>
        </p:nvSpPr>
        <p:spPr>
          <a:xfrm>
            <a:off x="3132734" y="405993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Resources interface</a:t>
            </a:r>
            <a:endParaRPr lang="en-US" sz="930" dirty="0"/>
          </a:p>
        </p:txBody>
      </p:sp>
      <p:sp>
        <p:nvSpPr>
          <p:cNvPr id="27" name="Shape 23"/>
          <p:cNvSpPr/>
          <p:nvPr/>
        </p:nvSpPr>
        <p:spPr>
          <a:xfrm>
            <a:off x="2986430" y="471830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3132734" y="460857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Responsive layouts</a:t>
            </a:r>
            <a:endParaRPr lang="en-US" sz="930" dirty="0"/>
          </a:p>
        </p:txBody>
      </p:sp>
      <p:sp>
        <p:nvSpPr>
          <p:cNvPr id="29" name="Shape 25"/>
          <p:cNvSpPr/>
          <p:nvPr/>
        </p:nvSpPr>
        <p:spPr>
          <a:xfrm>
            <a:off x="2986430" y="526694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30" name="Text 26"/>
          <p:cNvSpPr txBox="1"/>
          <p:nvPr/>
        </p:nvSpPr>
        <p:spPr>
          <a:xfrm>
            <a:off x="3132734" y="515721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Search &amp; category features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5774436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32" name="Image 2" descr="/home/claude/deck/icons/transactio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857" y="1949501"/>
            <a:ext cx="307238" cy="30723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33" name="Text 28"/>
          <p:cNvSpPr txBox="1"/>
          <p:nvPr/>
        </p:nvSpPr>
        <p:spPr>
          <a:xfrm>
            <a:off x="5031029" y="2514600"/>
            <a:ext cx="2126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5031029" y="2798064"/>
            <a:ext cx="21268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CRM Finance Module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5058461" y="3383280"/>
            <a:ext cx="2072030" cy="23317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38100" dist="19050" dir="5400000">
              <a:srgbClr val="9AAAC4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6" name="Shape 31"/>
          <p:cNvSpPr/>
          <p:nvPr/>
        </p:nvSpPr>
        <p:spPr>
          <a:xfrm>
            <a:off x="5204765" y="362102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37" name="Text 32"/>
          <p:cNvSpPr txBox="1"/>
          <p:nvPr/>
        </p:nvSpPr>
        <p:spPr>
          <a:xfrm>
            <a:off x="5351069" y="351129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Transaction dashboard</a:t>
            </a:r>
            <a:endParaRPr lang="en-US" sz="930" dirty="0"/>
          </a:p>
        </p:txBody>
      </p:sp>
      <p:sp>
        <p:nvSpPr>
          <p:cNvPr id="38" name="Shape 33"/>
          <p:cNvSpPr/>
          <p:nvPr/>
        </p:nvSpPr>
        <p:spPr>
          <a:xfrm>
            <a:off x="5204765" y="416966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39" name="Text 34"/>
          <p:cNvSpPr txBox="1"/>
          <p:nvPr/>
        </p:nvSpPr>
        <p:spPr>
          <a:xfrm>
            <a:off x="5351069" y="405993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Revenue dashboard</a:t>
            </a:r>
            <a:endParaRPr lang="en-US" sz="930" dirty="0"/>
          </a:p>
        </p:txBody>
      </p:sp>
      <p:sp>
        <p:nvSpPr>
          <p:cNvPr id="40" name="Shape 35"/>
          <p:cNvSpPr/>
          <p:nvPr/>
        </p:nvSpPr>
        <p:spPr>
          <a:xfrm>
            <a:off x="5204765" y="471830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41" name="Text 36"/>
          <p:cNvSpPr txBox="1"/>
          <p:nvPr/>
        </p:nvSpPr>
        <p:spPr>
          <a:xfrm>
            <a:off x="5351069" y="460857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Refund management</a:t>
            </a:r>
            <a:endParaRPr lang="en-US" sz="930" dirty="0"/>
          </a:p>
        </p:txBody>
      </p:sp>
      <p:sp>
        <p:nvSpPr>
          <p:cNvPr id="42" name="Shape 37"/>
          <p:cNvSpPr/>
          <p:nvPr/>
        </p:nvSpPr>
        <p:spPr>
          <a:xfrm>
            <a:off x="5204765" y="526694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43" name="Text 38"/>
          <p:cNvSpPr txBox="1"/>
          <p:nvPr/>
        </p:nvSpPr>
        <p:spPr>
          <a:xfrm>
            <a:off x="5351069" y="515721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Payout management</a:t>
            </a:r>
            <a:endParaRPr lang="en-US" sz="930" dirty="0"/>
          </a:p>
        </p:txBody>
      </p:sp>
      <p:sp>
        <p:nvSpPr>
          <p:cNvPr id="44" name="Shape 39"/>
          <p:cNvSpPr/>
          <p:nvPr/>
        </p:nvSpPr>
        <p:spPr>
          <a:xfrm>
            <a:off x="7992770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45" name="Image 3" descr="/home/claude/deck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191" y="1949501"/>
            <a:ext cx="307238" cy="30723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46" name="Text 40"/>
          <p:cNvSpPr txBox="1"/>
          <p:nvPr/>
        </p:nvSpPr>
        <p:spPr>
          <a:xfrm>
            <a:off x="7249363" y="2514600"/>
            <a:ext cx="2126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50" dirty="0"/>
          </a:p>
        </p:txBody>
      </p:sp>
      <p:sp>
        <p:nvSpPr>
          <p:cNvPr id="47" name="Text 41"/>
          <p:cNvSpPr txBox="1"/>
          <p:nvPr/>
        </p:nvSpPr>
        <p:spPr>
          <a:xfrm>
            <a:off x="7249363" y="2798064"/>
            <a:ext cx="21268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Integration &amp; Application Security</a:t>
            </a:r>
            <a:endParaRPr lang="en-US" sz="1300" dirty="0"/>
          </a:p>
        </p:txBody>
      </p:sp>
      <p:sp>
        <p:nvSpPr>
          <p:cNvPr id="48" name="Shape 42"/>
          <p:cNvSpPr/>
          <p:nvPr/>
        </p:nvSpPr>
        <p:spPr>
          <a:xfrm>
            <a:off x="7276795" y="3383280"/>
            <a:ext cx="2072030" cy="23317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38100" dist="19050" dir="5400000">
              <a:srgbClr val="9AAAC4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/>
        </p:nvSpPr>
        <p:spPr>
          <a:xfrm>
            <a:off x="7423099" y="362102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50" name="Text 44"/>
          <p:cNvSpPr txBox="1"/>
          <p:nvPr/>
        </p:nvSpPr>
        <p:spPr>
          <a:xfrm>
            <a:off x="7569403" y="351129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Backend Technologies &amp; database integration</a:t>
            </a:r>
            <a:endParaRPr lang="en-US" sz="930" dirty="0"/>
          </a:p>
        </p:txBody>
      </p:sp>
      <p:sp>
        <p:nvSpPr>
          <p:cNvPr id="51" name="Shape 45"/>
          <p:cNvSpPr/>
          <p:nvPr/>
        </p:nvSpPr>
        <p:spPr>
          <a:xfrm>
            <a:off x="7423099" y="416966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52" name="Text 46"/>
          <p:cNvSpPr txBox="1"/>
          <p:nvPr/>
        </p:nvSpPr>
        <p:spPr>
          <a:xfrm>
            <a:off x="7569403" y="405993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Application state management</a:t>
            </a:r>
            <a:endParaRPr lang="en-US" sz="930" dirty="0"/>
          </a:p>
        </p:txBody>
      </p:sp>
      <p:sp>
        <p:nvSpPr>
          <p:cNvPr id="53" name="Shape 47"/>
          <p:cNvSpPr/>
          <p:nvPr/>
        </p:nvSpPr>
        <p:spPr>
          <a:xfrm>
            <a:off x="7423099" y="471830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54" name="Text 48"/>
          <p:cNvSpPr txBox="1"/>
          <p:nvPr/>
        </p:nvSpPr>
        <p:spPr>
          <a:xfrm>
            <a:off x="7569403" y="460857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Security improvements</a:t>
            </a:r>
            <a:endParaRPr lang="en-US" sz="930" dirty="0"/>
          </a:p>
        </p:txBody>
      </p:sp>
      <p:sp>
        <p:nvSpPr>
          <p:cNvPr id="55" name="Shape 49"/>
          <p:cNvSpPr/>
          <p:nvPr/>
        </p:nvSpPr>
        <p:spPr>
          <a:xfrm>
            <a:off x="7423099" y="526694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56" name="Text 50"/>
          <p:cNvSpPr txBox="1"/>
          <p:nvPr/>
        </p:nvSpPr>
        <p:spPr>
          <a:xfrm>
            <a:off x="7569403" y="515721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930" dirty="0"/>
          </a:p>
        </p:txBody>
      </p:sp>
      <p:sp>
        <p:nvSpPr>
          <p:cNvPr id="57" name="Shape 51"/>
          <p:cNvSpPr/>
          <p:nvPr/>
        </p:nvSpPr>
        <p:spPr>
          <a:xfrm>
            <a:off x="10211105" y="17830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58" name="Image 4" descr="/home/claude/deck/icons/filetex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7526" y="1949501"/>
            <a:ext cx="307238" cy="307238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59" name="Text 52"/>
          <p:cNvSpPr txBox="1"/>
          <p:nvPr/>
        </p:nvSpPr>
        <p:spPr>
          <a:xfrm>
            <a:off x="9467698" y="2514600"/>
            <a:ext cx="2126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60" name="Text 53"/>
          <p:cNvSpPr txBox="1"/>
          <p:nvPr/>
        </p:nvSpPr>
        <p:spPr>
          <a:xfrm>
            <a:off x="9467698" y="2798064"/>
            <a:ext cx="21268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273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Ledgerly &amp; Portfolio development Work</a:t>
            </a:r>
            <a:endParaRPr lang="en-US" sz="1300" dirty="0"/>
          </a:p>
        </p:txBody>
      </p:sp>
      <p:sp>
        <p:nvSpPr>
          <p:cNvPr id="61" name="Shape 54"/>
          <p:cNvSpPr/>
          <p:nvPr/>
        </p:nvSpPr>
        <p:spPr>
          <a:xfrm>
            <a:off x="9495130" y="3383280"/>
            <a:ext cx="2072030" cy="233172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12700">
            <a:solidFill>
              <a:srgbClr val="EEF3FA"/>
            </a:solidFill>
            <a:prstDash val="solid"/>
          </a:ln>
          <a:effectLst>
            <a:outerShdw sx="100000" sy="100000" kx="0" ky="0" algn="bl" rotWithShape="0" blurRad="38100" dist="19050" dir="5400000">
              <a:srgbClr val="9AAAC4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62" name="Shape 55"/>
          <p:cNvSpPr/>
          <p:nvPr/>
        </p:nvSpPr>
        <p:spPr>
          <a:xfrm>
            <a:off x="9641434" y="362102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63" name="Text 56"/>
          <p:cNvSpPr txBox="1"/>
          <p:nvPr/>
        </p:nvSpPr>
        <p:spPr>
          <a:xfrm>
            <a:off x="9787738" y="351129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Billing application</a:t>
            </a:r>
            <a:endParaRPr lang="en-US" sz="930" dirty="0"/>
          </a:p>
        </p:txBody>
      </p:sp>
      <p:sp>
        <p:nvSpPr>
          <p:cNvPr id="64" name="Shape 57"/>
          <p:cNvSpPr/>
          <p:nvPr/>
        </p:nvSpPr>
        <p:spPr>
          <a:xfrm>
            <a:off x="9641434" y="416966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65" name="Text 58"/>
          <p:cNvSpPr txBox="1"/>
          <p:nvPr/>
        </p:nvSpPr>
        <p:spPr>
          <a:xfrm>
            <a:off x="9787738" y="405993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Invoice Management &amp; estimates</a:t>
            </a:r>
            <a:endParaRPr lang="en-US" sz="930" dirty="0"/>
          </a:p>
        </p:txBody>
      </p:sp>
      <p:sp>
        <p:nvSpPr>
          <p:cNvPr id="66" name="Shape 59"/>
          <p:cNvSpPr/>
          <p:nvPr/>
        </p:nvSpPr>
        <p:spPr>
          <a:xfrm>
            <a:off x="9641434" y="471830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67" name="Text 60"/>
          <p:cNvSpPr txBox="1"/>
          <p:nvPr/>
        </p:nvSpPr>
        <p:spPr>
          <a:xfrm>
            <a:off x="9787738" y="460857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Client-related features</a:t>
            </a:r>
            <a:endParaRPr lang="en-US" sz="930" dirty="0"/>
          </a:p>
        </p:txBody>
      </p:sp>
      <p:sp>
        <p:nvSpPr>
          <p:cNvPr id="68" name="Shape 61"/>
          <p:cNvSpPr/>
          <p:nvPr/>
        </p:nvSpPr>
        <p:spPr>
          <a:xfrm>
            <a:off x="9641434" y="5266944"/>
            <a:ext cx="73152" cy="73152"/>
          </a:xfrm>
          <a:prstGeom prst="ellipse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69" name="Text 62"/>
          <p:cNvSpPr txBox="1"/>
          <p:nvPr/>
        </p:nvSpPr>
        <p:spPr>
          <a:xfrm>
            <a:off x="9787738" y="5157216"/>
            <a:ext cx="1651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Portfolio development</a:t>
            </a:r>
            <a:endParaRPr lang="en-US" sz="930" dirty="0"/>
          </a:p>
        </p:txBody>
      </p:sp>
      <p:sp>
        <p:nvSpPr>
          <p:cNvPr id="70" name="Text 6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Product Engineering Internship — MarTechAdda Pvt. Ltd.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2" name="Rectangle 71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486400" cy="5486400"/>
          </a:xfrm>
          <a:prstGeom prst="ellipse">
            <a:avLst/>
          </a:prstGeom>
          <a:solidFill>
            <a:srgbClr val="11192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6F9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Key Learnings &amp; Conclusion</a:t>
            </a:r>
            <a:endParaRPr lang="en-US" sz="2800" dirty="0"/>
          </a:p>
        </p:txBody>
      </p:sp>
      <p:pic>
        <p:nvPicPr>
          <p:cNvPr id="6" name="Image 0" descr="/home/claude/deck/icons/check_2E6F9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7632"/>
            <a:ext cx="237744" cy="23774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7" name="Text 4"/>
          <p:cNvSpPr txBox="1"/>
          <p:nvPr/>
        </p:nvSpPr>
        <p:spPr>
          <a:xfrm>
            <a:off x="877824" y="1600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Hands-on experience in full-stack product engineering</a:t>
            </a:r>
            <a:endParaRPr lang="en-US" sz="1250" dirty="0"/>
          </a:p>
        </p:txBody>
      </p:sp>
      <p:pic>
        <p:nvPicPr>
          <p:cNvPr id="8" name="Image 1" descr="/home/claude/deck/icons/check_2E6F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27632"/>
            <a:ext cx="237744" cy="23774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9" name="Text 5"/>
          <p:cNvSpPr txBox="1"/>
          <p:nvPr/>
        </p:nvSpPr>
        <p:spPr>
          <a:xfrm>
            <a:off x="6592824" y="16002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Experience with CRM-based financial workflows</a:t>
            </a:r>
            <a:endParaRPr lang="en-US" sz="1250" dirty="0"/>
          </a:p>
        </p:txBody>
      </p:sp>
      <p:pic>
        <p:nvPicPr>
          <p:cNvPr id="10" name="Image 2" descr="/home/claude/deck/icons/check_2E6F9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39696"/>
            <a:ext cx="237744" cy="23774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1" name="Text 6"/>
          <p:cNvSpPr txBox="1"/>
          <p:nvPr/>
        </p:nvSpPr>
        <p:spPr>
          <a:xfrm>
            <a:off x="877824" y="21122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Exposure to billing and invoicing application development</a:t>
            </a:r>
            <a:endParaRPr lang="en-US" sz="1250" dirty="0"/>
          </a:p>
        </p:txBody>
      </p:sp>
      <p:pic>
        <p:nvPicPr>
          <p:cNvPr id="12" name="Image 3" descr="/home/claude/deck/icons/check_2E6F9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139696"/>
            <a:ext cx="237744" cy="23774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3" name="Text 7"/>
          <p:cNvSpPr txBox="1"/>
          <p:nvPr/>
        </p:nvSpPr>
        <p:spPr>
          <a:xfrm>
            <a:off x="6592824" y="21122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Practical backend and database integration</a:t>
            </a:r>
            <a:endParaRPr lang="en-US" sz="1250" dirty="0"/>
          </a:p>
        </p:txBody>
      </p:sp>
      <p:pic>
        <p:nvPicPr>
          <p:cNvPr id="14" name="Image 4" descr="/home/claude/deck/icons/check_2E6F9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51760"/>
            <a:ext cx="237744" cy="23774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5" name="Text 8"/>
          <p:cNvSpPr txBox="1"/>
          <p:nvPr/>
        </p:nvSpPr>
        <p:spPr>
          <a:xfrm>
            <a:off x="877824" y="26243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Understanding of authentication and authorization</a:t>
            </a:r>
            <a:endParaRPr lang="en-US" sz="1250" dirty="0"/>
          </a:p>
        </p:txBody>
      </p:sp>
      <p:pic>
        <p:nvPicPr>
          <p:cNvPr id="16" name="Image 5" descr="/home/claude/deck/icons/check_2E6F9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651760"/>
            <a:ext cx="237744" cy="23774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7" name="Text 9"/>
          <p:cNvSpPr txBox="1"/>
          <p:nvPr/>
        </p:nvSpPr>
        <p:spPr>
          <a:xfrm>
            <a:off x="6592824" y="262432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Experience identifying and addressing security concerns</a:t>
            </a:r>
            <a:endParaRPr lang="en-US" sz="1250" dirty="0"/>
          </a:p>
        </p:txBody>
      </p:sp>
      <p:pic>
        <p:nvPicPr>
          <p:cNvPr id="18" name="Image 6" descr="/home/claude/deck/icons/check_2E6F9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163824"/>
            <a:ext cx="237744" cy="23774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19" name="Text 10"/>
          <p:cNvSpPr txBox="1"/>
          <p:nvPr/>
        </p:nvSpPr>
        <p:spPr>
          <a:xfrm>
            <a:off x="877824" y="31363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Collaborative development using Git / GitHub workflow</a:t>
            </a:r>
            <a:endParaRPr lang="en-US" sz="1250" dirty="0"/>
          </a:p>
        </p:txBody>
      </p:sp>
      <p:pic>
        <p:nvPicPr>
          <p:cNvPr id="20" name="Image 7" descr="/home/claude/deck/icons/check_2E6F9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163824"/>
            <a:ext cx="237744" cy="23774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1" name="Text 11"/>
          <p:cNvSpPr txBox="1"/>
          <p:nvPr/>
        </p:nvSpPr>
        <p:spPr>
          <a:xfrm>
            <a:off x="6592824" y="31363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Improved debugging and integration skills</a:t>
            </a:r>
            <a:endParaRPr lang="en-US" sz="1250" dirty="0"/>
          </a:p>
        </p:txBody>
      </p:sp>
      <p:pic>
        <p:nvPicPr>
          <p:cNvPr id="22" name="Image 8" descr="/home/claude/deck/icons/check_2E6F9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675888"/>
            <a:ext cx="237744" cy="237744"/>
          </a:xfrm>
          <a:prstGeom prst="rect">
            <a:avLst/>
          </a:prstGeom>
          <a:ln w="12000">
            <a:solidFill>
              <a:srgbClr val="FFFFFF"/>
            </a:solidFill>
          </a:ln>
        </p:spPr>
      </p:pic>
      <p:sp>
        <p:nvSpPr>
          <p:cNvPr id="23" name="Text 12"/>
          <p:cNvSpPr txBox="1"/>
          <p:nvPr/>
        </p:nvSpPr>
        <p:spPr>
          <a:xfrm>
            <a:off x="877824" y="3648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Better understanding of real-world business processes</a:t>
            </a:r>
            <a:endParaRPr lang="en-US" sz="1250" dirty="0"/>
          </a:p>
        </p:txBody>
      </p:sp>
      <p:sp>
        <p:nvSpPr>
          <p:cNvPr id="24" name="Shape 13"/>
          <p:cNvSpPr/>
          <p:nvPr/>
        </p:nvSpPr>
        <p:spPr>
          <a:xfrm>
            <a:off x="548640" y="5074920"/>
            <a:ext cx="11091672" cy="0"/>
          </a:xfrm>
          <a:prstGeom prst="line">
            <a:avLst/>
          </a:prstGeom>
          <a:noFill/>
          <a:ln w="12700">
            <a:solidFill>
              <a:srgbClr val="2E3E5E"/>
            </a:solidFill>
            <a:prstDash val="solid"/>
          </a:ln>
        </p:spPr>
        <p:txBody>
          <a:bodyPr/>
          <a:p/>
        </p:txBody>
      </p:sp>
      <p:sp>
        <p:nvSpPr>
          <p:cNvPr id="25" name="Text 14"/>
          <p:cNvSpPr txBox="1"/>
          <p:nvPr/>
        </p:nvSpPr>
        <p:spPr>
          <a:xfrm>
            <a:off x="548640" y="5303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Aptos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6" name="Text 15"/>
          <p:cNvSpPr txBox="1"/>
          <p:nvPr/>
        </p:nvSpPr>
        <p:spPr>
          <a:xfrm>
            <a:off x="548640" y="5943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243D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27" name="Text 16"/>
          <p:cNvSpPr txBox="1"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273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Kajal Kiran  •  2410031725  •  B.Tech CSE  •  IILM University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2026-08-30T09:29:06Z</dcterms:created>
  <dcterms:modified xsi:type="dcterms:W3CDTF">2026-08-30T09:29:06Z</dcterms:modified>
</cp:coreProperties>
</file>